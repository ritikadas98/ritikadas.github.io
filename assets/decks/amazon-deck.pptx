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5A6B"/>
              </a:gs>
              <a:gs pos="100000">
                <a:srgbClr val="0E141B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SHIPPED PRODUCT · AGENTIC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8778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Bricolage Grotesque 14pt"/>
              </a:rPr>
              <a:t>Amazon Discovery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>
                <a:solidFill>
                  <a:srgbClr val="FFFFFF"/>
                </a:solidFill>
                <a:latin typeface="Inter"/>
              </a:rPr>
              <a:t>Reads a week of public Amazon reviews and names the one problem worth starting. For the rest, it says what evidence is missing.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FFF"/>
                </a:solidFill>
                <a:latin typeface="Inter"/>
              </a:rPr>
              <a:t>Ritika Das · ritikadas.in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3121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11E24"/>
                </a:solidFill>
                <a:latin typeface="Bricolage Grotesque 14pt"/>
              </a:rPr>
              <a:t>A PM cannot read every review, so they skim.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4754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A4550"/>
                </a:solidFill>
                <a:latin typeface="Inter"/>
              </a:rPr>
              <a:t>Skimming feels fine, because you never find out what you missed. The complaint that mattered was in there and nobody counted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30352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IBM Plex Mono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65376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A4550"/>
                </a:solidFill>
                <a:latin typeface="Inter"/>
              </a:rPr>
              <a:t>A ranked list hands the queue back. Each problem leads with a finding, a first move and a price.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70048"/>
            <a:ext cx="530352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5292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IBM Plex Mono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63824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A4550"/>
                </a:solidFill>
                <a:latin typeface="Inter"/>
              </a:rPr>
              <a:t>299 complaints sorted into 33 problems across 7 parts of the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68496"/>
            <a:ext cx="530352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5137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F2937"/>
                </a:solidFill>
                <a:latin typeface="IBM Plex Mono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462272"/>
            <a:ext cx="4754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4A4550"/>
                </a:solidFill>
                <a:latin typeface="Inter"/>
              </a:rPr>
              <a:t>One of 33 had enough behind it to act on, and the page says 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IBM Plex Mono"/>
              </a:rPr>
              <a:t>THE PART I DID NOT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ricolage Grotesque 14pt"/>
              </a:rPr>
              <a:t>It looked at 53 complaints and wrote “only one person reported this”.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8920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CFD6DC"/>
                </a:solidFill>
                <a:latin typeface="Inter"/>
              </a:rPr>
              <a:t>I had asked the model to score how strong the evidence was. One of the things I asked it to score was how many people had raised it. Code had already counted that. Exactly.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0241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THE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211E24"/>
                </a:solidFill>
                <a:latin typeface="Bricolage Grotesque 14pt"/>
              </a:rPr>
              <a:t>Never ask a model to grade what you have already counted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What the model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30752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Reads messy review text and groups complaints into problems. Reading a thousand badly written complaints and noticing four hundred are the same problem is what a model is good 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926080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What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30752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Every count. How many people raised a problem, how many sources it came from, the score, the week-over-week change. Arithmetic, which a model is not good 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93208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13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Where I drew it wrong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97880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The readiness step was asked to grade a number I had already counted exactly. It said “only one person” beside the number 53.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093208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5413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The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897880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Not a better prompt. Taking the job away. Gemini runs at 4 of the 14 steps and none of them is arithmetic.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11E24"/>
                </a:solidFill>
                <a:latin typeface="Bricolage Grotesque 14pt"/>
              </a:rPr>
              <a:t>Fourteen steps, four of them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4A4550"/>
                </a:solidFill>
                <a:latin typeface="Inter"/>
              </a:rPr>
              <a:t>Every number a PM sees is counted in code. That split is the thing I got wrong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4A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13688" y="274320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3728" y="274320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1E24"/>
                </a:solidFill>
                <a:latin typeface="Bricolage Grotesque 14pt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4048" y="274320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App Store, Play Store and Amazon product pages, three live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708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4A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30708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3688" y="330708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33728" y="330708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1E24"/>
                </a:solidFill>
                <a:latin typeface="Bricolage Grotesque 14pt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94048" y="330708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A substance bar drops “good app” and emoji-only, language-agnostic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7096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4A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7096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13688" y="387096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33728" y="387096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1E24"/>
                </a:solidFill>
                <a:latin typeface="Bricolage Grotesque 14pt"/>
              </a:rPr>
              <a:t>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387096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The model reads and clusters complaints into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3688" y="443484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33728" y="443484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Bricolage Grotesque 14pt"/>
              </a:rPr>
              <a:t>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4048" y="443484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DCE4E8"/>
                </a:solidFill>
                <a:latin typeface="Inter"/>
              </a:rPr>
              <a:t>Code does every figure: people, sources, score, week-over-week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9872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4A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99872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13688" y="499872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33728" y="499872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1E24"/>
                </a:solidFill>
                <a:latin typeface="Bricolage Grotesque 14pt"/>
              </a:rPr>
              <a:t>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4048" y="499872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Refuses to rank a problem it cannot back, and names what is missing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562600"/>
            <a:ext cx="445008" cy="445008"/>
          </a:xfrm>
          <a:prstGeom prst="roundRect">
            <a:avLst>
              <a:gd name="adj" fmla="val 50000"/>
            </a:avLst>
          </a:prstGeom>
          <a:solidFill>
            <a:srgbClr val="4A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562600"/>
            <a:ext cx="445008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IBM Plex Mono"/>
              </a:rPr>
              <a:t>06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13688" y="5562600"/>
            <a:ext cx="10143744" cy="445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33728" y="5562600"/>
            <a:ext cx="24688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11E24"/>
                </a:solidFill>
                <a:latin typeface="Bricolage Grotesque 14pt"/>
              </a:rPr>
              <a:t>Deliver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4048" y="5562600"/>
            <a:ext cx="6760463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A digest that leads with one first move, an owner and a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312164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3121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211E24"/>
                </a:solidFill>
                <a:latin typeface="Bricolage Grotesque 14pt"/>
              </a:rPr>
              <a:t>Severity measures loudness, not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A4550"/>
                </a:solidFill>
                <a:latin typeface="Inter"/>
              </a:rPr>
              <a:t>A customer who cannot find a product writes a furious review. A customer charged twice writes a short, tired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8328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8C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611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BM Plex Mono"/>
              </a:rPr>
              <a:t>RANKED ON TONE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02336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Bricolage Grotesque 14pt"/>
              </a:rPr>
              <a:t>3.2 upset score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The week's costliest problem reads as unremarkable.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23 complaints that cost money sit across 7 problems, most below problems that only irritated people.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383280"/>
            <a:ext cx="5212080" cy="237744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611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BM Plex Mono"/>
              </a:rPr>
              <a:t>TWO SCORES, NOT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23360"/>
            <a:ext cx="4572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2000" b="1">
                <a:solidFill>
                  <a:srgbClr val="FFFFFF"/>
                </a:solidFill>
                <a:latin typeface="Bricolage Grotesque 14pt"/>
              </a:rPr>
              <a:t>44 complaints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13 packages lost or sent to the wrong address, 2 charged for items that never arrived.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Inter"/>
              </a:rPr>
              <a:t>They disagree often enough to earn the second glance.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216152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216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211E24"/>
                </a:solidFill>
                <a:latin typeface="Bricolage Grotesque 14pt"/>
              </a:rPr>
              <a:t>Three calls, and what each one bought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>
                <a:solidFill>
                  <a:srgbClr val="4A4550"/>
                </a:solidFill>
                <a:latin typeface="Inter"/>
              </a:rPr>
              <a:t>Each gave something up, and each bought something worth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768803" cy="457200"/>
          </a:xfrm>
          <a:prstGeom prst="roundRect">
            <a:avLst>
              <a:gd name="adj" fmla="val 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926079"/>
            <a:ext cx="24396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BM Plex Mono"/>
              </a:rPr>
              <a:t>TRADE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1179" y="2788920"/>
            <a:ext cx="2553004" cy="457200"/>
          </a:xfrm>
          <a:prstGeom prst="roundRect">
            <a:avLst>
              <a:gd name="adj" fmla="val 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5771" y="2926079"/>
            <a:ext cx="22238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BM Plex Mono"/>
              </a:rPr>
              <a:t>WHAT IT GAVE 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788920"/>
            <a:ext cx="5358384" cy="457200"/>
          </a:xfrm>
          <a:prstGeom prst="roundRect">
            <a:avLst>
              <a:gd name="adj" fmla="val 2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92607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IBM Plex Mono"/>
              </a:rPr>
              <a:t>WHAT IT BOUGHT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19272"/>
            <a:ext cx="10753344" cy="728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438144"/>
            <a:ext cx="2439619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A spreadsheet over a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5771" y="3438144"/>
            <a:ext cx="222382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Queries and schema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38144"/>
            <a:ext cx="502920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A store PMs already sort, filter and share. ₹1,100 a month became ₹40.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02607"/>
            <a:ext cx="10753344" cy="728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221480"/>
            <a:ext cx="2439619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Their schema over mine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5771" y="4221480"/>
            <a:ext cx="222382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A clean schema of my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221480"/>
            <a:ext cx="502920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Every filter and pivot a PM had already built on the sheet, misspelled header and all.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85944"/>
            <a:ext cx="10753344" cy="728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5004815"/>
            <a:ext cx="2439619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The question over the archive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5771" y="5004815"/>
            <a:ext cx="222382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The week-by-week history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004815"/>
            <a:ext cx="5029200" cy="509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4A4550"/>
                </a:solidFill>
                <a:latin typeface="Inter"/>
              </a:rPr>
              <a:t>Nobody asks what happened in week 22. They ask what is going wrong in Checkout.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45720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4924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IBM Plex Mono"/>
              </a:rPr>
              <a:t>THE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211E24"/>
                </a:solidFill>
                <a:latin typeface="Bricolage Grotesque 14pt"/>
              </a:rPr>
              <a:t>What the evidence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A4550"/>
                </a:solidFill>
                <a:latin typeface="Inter"/>
              </a:rPr>
              <a:t>No product manager has run a week through this one yet. That is not the same as having no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The category is 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30752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Atlassian says its PMs save about 40 minutes a day to an agent reading their feedback queue. Dovetail and Amplitude sell the same clustering to Canva, Meta and NTT DOCOMO.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926080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Where this one differs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730752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All of them stop at a ranked list, and the PM still has to open it and decide. This names the first move, the owner and the price — the step after the one they automate.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093208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13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What that predicts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97880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On the same inputs it should land in the same range, and take back the hour a ranked list hands straight back. Inference from comparable products, not a measured result from this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5093208"/>
            <a:ext cx="521208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4132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7"/>
                </a:solidFill>
                <a:latin typeface="Bricolage Grotesque 14pt"/>
              </a:rPr>
              <a:t>What would settle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897880"/>
            <a:ext cx="45720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4A4550"/>
                </a:solidFill>
                <a:latin typeface="Inter"/>
              </a:rPr>
              <a:t>Whether the named first move gets taken. The digest already carries a feedback link, so that number is one week of real use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9900"/>
                </a:solidFill>
                <a:latin typeface="IBM Plex Mono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ricolage Grotesque 14pt"/>
              </a:rPr>
              <a:t>amazon.ritikadas.in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8920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CFD6DC"/>
                </a:solidFill>
                <a:latin typeface="Inter"/>
              </a:rPr>
              <a:t>Runs Mondays at 09:00 on a schedule, scales to zero between runs, about ₹40 a month. Write-up at ritikadas.in/work/amazon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